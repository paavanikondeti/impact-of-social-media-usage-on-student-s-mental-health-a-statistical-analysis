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026" autoAdjust="0"/>
  </p:normalViewPr>
  <p:slideViewPr>
    <p:cSldViewPr snapToGrid="0">
      <p:cViewPr varScale="1">
        <p:scale>
          <a:sx n="72" d="100"/>
          <a:sy n="72" d="100"/>
        </p:scale>
        <p:origin x="102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ndeti paavani" userId="5ce15e9ddcf48b7a" providerId="LiveId" clId="{351B9316-C5E4-45BC-AFE4-31F00EEA211F}"/>
    <pc:docChg chg="undo custSel modSld modMainMaster">
      <pc:chgData name="kondeti paavani" userId="5ce15e9ddcf48b7a" providerId="LiveId" clId="{351B9316-C5E4-45BC-AFE4-31F00EEA211F}" dt="2026-04-16T12:43:43.942" v="413" actId="20577"/>
      <pc:docMkLst>
        <pc:docMk/>
      </pc:docMkLst>
      <pc:sldChg chg="addSp delSp modSp mod">
        <pc:chgData name="kondeti paavani" userId="5ce15e9ddcf48b7a" providerId="LiveId" clId="{351B9316-C5E4-45BC-AFE4-31F00EEA211F}" dt="2026-04-10T13:15:32.079" v="302" actId="1076"/>
        <pc:sldMkLst>
          <pc:docMk/>
          <pc:sldMk cId="780356063" sldId="256"/>
        </pc:sldMkLst>
        <pc:spChg chg="mod">
          <ac:chgData name="kondeti paavani" userId="5ce15e9ddcf48b7a" providerId="LiveId" clId="{351B9316-C5E4-45BC-AFE4-31F00EEA211F}" dt="2026-04-10T13:15:27.033" v="300" actId="20577"/>
          <ac:spMkLst>
            <pc:docMk/>
            <pc:sldMk cId="780356063" sldId="256"/>
            <ac:spMk id="2" creationId="{F78AAF86-379B-2F1D-3F14-03EB322250A5}"/>
          </ac:spMkLst>
        </pc:spChg>
        <pc:picChg chg="add mod">
          <ac:chgData name="kondeti paavani" userId="5ce15e9ddcf48b7a" providerId="LiveId" clId="{351B9316-C5E4-45BC-AFE4-31F00EEA211F}" dt="2026-04-10T13:15:32.079" v="302" actId="1076"/>
          <ac:picMkLst>
            <pc:docMk/>
            <pc:sldMk cId="780356063" sldId="256"/>
            <ac:picMk id="4" creationId="{49168887-1A60-B580-D13D-5A4349E07496}"/>
          </ac:picMkLst>
        </pc:picChg>
      </pc:sldChg>
      <pc:sldChg chg="addSp delSp modSp mod">
        <pc:chgData name="kondeti paavani" userId="5ce15e9ddcf48b7a" providerId="LiveId" clId="{351B9316-C5E4-45BC-AFE4-31F00EEA211F}" dt="2026-04-10T13:26:46.410" v="347" actId="14100"/>
        <pc:sldMkLst>
          <pc:docMk/>
          <pc:sldMk cId="1432777485" sldId="257"/>
        </pc:sldMkLst>
        <pc:spChg chg="mod">
          <ac:chgData name="kondeti paavani" userId="5ce15e9ddcf48b7a" providerId="LiveId" clId="{351B9316-C5E4-45BC-AFE4-31F00EEA211F}" dt="2026-04-10T13:24:36.707" v="333" actId="1076"/>
          <ac:spMkLst>
            <pc:docMk/>
            <pc:sldMk cId="1432777485" sldId="257"/>
            <ac:spMk id="2" creationId="{3DF3B4DA-0223-B93A-48F3-ACA2251D154E}"/>
          </ac:spMkLst>
        </pc:spChg>
        <pc:spChg chg="mod">
          <ac:chgData name="kondeti paavani" userId="5ce15e9ddcf48b7a" providerId="LiveId" clId="{351B9316-C5E4-45BC-AFE4-31F00EEA211F}" dt="2026-04-10T13:24:36.707" v="333" actId="1076"/>
          <ac:spMkLst>
            <pc:docMk/>
            <pc:sldMk cId="1432777485" sldId="257"/>
            <ac:spMk id="3" creationId="{82402B31-A94B-343D-0CE7-A041ADD8E131}"/>
          </ac:spMkLst>
        </pc:spChg>
        <pc:picChg chg="add mod">
          <ac:chgData name="kondeti paavani" userId="5ce15e9ddcf48b7a" providerId="LiveId" clId="{351B9316-C5E4-45BC-AFE4-31F00EEA211F}" dt="2026-04-10T13:26:46.410" v="347" actId="14100"/>
          <ac:picMkLst>
            <pc:docMk/>
            <pc:sldMk cId="1432777485" sldId="257"/>
            <ac:picMk id="5" creationId="{598826DB-27DD-672F-6A04-22694F384CEA}"/>
          </ac:picMkLst>
        </pc:picChg>
      </pc:sldChg>
      <pc:sldChg chg="addSp delSp modSp mod">
        <pc:chgData name="kondeti paavani" userId="5ce15e9ddcf48b7a" providerId="LiveId" clId="{351B9316-C5E4-45BC-AFE4-31F00EEA211F}" dt="2026-04-10T13:27:32.816" v="353" actId="113"/>
        <pc:sldMkLst>
          <pc:docMk/>
          <pc:sldMk cId="3498939928" sldId="258"/>
        </pc:sldMkLst>
        <pc:spChg chg="mod">
          <ac:chgData name="kondeti paavani" userId="5ce15e9ddcf48b7a" providerId="LiveId" clId="{351B9316-C5E4-45BC-AFE4-31F00EEA211F}" dt="2026-04-10T13:10:26.276" v="198" actId="27636"/>
          <ac:spMkLst>
            <pc:docMk/>
            <pc:sldMk cId="3498939928" sldId="258"/>
            <ac:spMk id="2" creationId="{F852209C-8F3D-4727-D824-E222AADB23F7}"/>
          </ac:spMkLst>
        </pc:spChg>
        <pc:spChg chg="mod">
          <ac:chgData name="kondeti paavani" userId="5ce15e9ddcf48b7a" providerId="LiveId" clId="{351B9316-C5E4-45BC-AFE4-31F00EEA211F}" dt="2026-04-10T13:27:32.816" v="353" actId="113"/>
          <ac:spMkLst>
            <pc:docMk/>
            <pc:sldMk cId="3498939928" sldId="258"/>
            <ac:spMk id="3" creationId="{24FD3415-F8E2-28ED-3E4F-A7281C794F77}"/>
          </ac:spMkLst>
        </pc:spChg>
        <pc:picChg chg="add mod">
          <ac:chgData name="kondeti paavani" userId="5ce15e9ddcf48b7a" providerId="LiveId" clId="{351B9316-C5E4-45BC-AFE4-31F00EEA211F}" dt="2026-04-10T13:27:13.060" v="349" actId="14100"/>
          <ac:picMkLst>
            <pc:docMk/>
            <pc:sldMk cId="3498939928" sldId="258"/>
            <ac:picMk id="1028" creationId="{D546AD8A-4AC4-CD8C-B65B-A8F6EDFFFAB2}"/>
          </ac:picMkLst>
        </pc:picChg>
      </pc:sldChg>
      <pc:sldChg chg="addSp delSp modSp mod">
        <pc:chgData name="kondeti paavani" userId="5ce15e9ddcf48b7a" providerId="LiveId" clId="{351B9316-C5E4-45BC-AFE4-31F00EEA211F}" dt="2026-04-10T13:31:57.864" v="391" actId="14100"/>
        <pc:sldMkLst>
          <pc:docMk/>
          <pc:sldMk cId="3150182363" sldId="259"/>
        </pc:sldMkLst>
        <pc:spChg chg="mod">
          <ac:chgData name="kondeti paavani" userId="5ce15e9ddcf48b7a" providerId="LiveId" clId="{351B9316-C5E4-45BC-AFE4-31F00EEA211F}" dt="2026-04-10T13:10:26.181" v="196"/>
          <ac:spMkLst>
            <pc:docMk/>
            <pc:sldMk cId="3150182363" sldId="259"/>
            <ac:spMk id="2" creationId="{8B4265C9-E138-D4DF-C376-641D0DC27894}"/>
          </ac:spMkLst>
        </pc:spChg>
        <pc:graphicFrameChg chg="add mod modGraphic">
          <ac:chgData name="kondeti paavani" userId="5ce15e9ddcf48b7a" providerId="LiveId" clId="{351B9316-C5E4-45BC-AFE4-31F00EEA211F}" dt="2026-04-10T13:31:57.864" v="391" actId="14100"/>
          <ac:graphicFrameMkLst>
            <pc:docMk/>
            <pc:sldMk cId="3150182363" sldId="259"/>
            <ac:graphicFrameMk id="7" creationId="{E9720331-F0E3-52AE-A05B-00BC83CBF76B}"/>
          </ac:graphicFrameMkLst>
        </pc:graphicFrameChg>
      </pc:sldChg>
      <pc:sldChg chg="addSp delSp modSp mod">
        <pc:chgData name="kondeti paavani" userId="5ce15e9ddcf48b7a" providerId="LiveId" clId="{351B9316-C5E4-45BC-AFE4-31F00EEA211F}" dt="2026-04-10T13:31:25.196" v="386" actId="14100"/>
        <pc:sldMkLst>
          <pc:docMk/>
          <pc:sldMk cId="108985096" sldId="260"/>
        </pc:sldMkLst>
        <pc:spChg chg="mod">
          <ac:chgData name="kondeti paavani" userId="5ce15e9ddcf48b7a" providerId="LiveId" clId="{351B9316-C5E4-45BC-AFE4-31F00EEA211F}" dt="2026-04-10T13:10:26.181" v="196"/>
          <ac:spMkLst>
            <pc:docMk/>
            <pc:sldMk cId="108985096" sldId="260"/>
            <ac:spMk id="2" creationId="{946577C0-D172-0A0A-FD5F-F7B2D5676A50}"/>
          </ac:spMkLst>
        </pc:spChg>
        <pc:graphicFrameChg chg="add mod modGraphic">
          <ac:chgData name="kondeti paavani" userId="5ce15e9ddcf48b7a" providerId="LiveId" clId="{351B9316-C5E4-45BC-AFE4-31F00EEA211F}" dt="2026-04-10T13:31:25.196" v="386" actId="14100"/>
          <ac:graphicFrameMkLst>
            <pc:docMk/>
            <pc:sldMk cId="108985096" sldId="260"/>
            <ac:graphicFrameMk id="6" creationId="{9A886BC6-3E78-7EDD-8A1A-64105C0907C5}"/>
          </ac:graphicFrameMkLst>
        </pc:graphicFrameChg>
      </pc:sldChg>
      <pc:sldChg chg="addSp delSp modSp mod">
        <pc:chgData name="kondeti paavani" userId="5ce15e9ddcf48b7a" providerId="LiveId" clId="{351B9316-C5E4-45BC-AFE4-31F00EEA211F}" dt="2026-04-10T13:29:29.008" v="376" actId="14100"/>
        <pc:sldMkLst>
          <pc:docMk/>
          <pc:sldMk cId="2974560579" sldId="261"/>
        </pc:sldMkLst>
        <pc:spChg chg="mod">
          <ac:chgData name="kondeti paavani" userId="5ce15e9ddcf48b7a" providerId="LiveId" clId="{351B9316-C5E4-45BC-AFE4-31F00EEA211F}" dt="2026-04-10T13:27:57.242" v="355" actId="1076"/>
          <ac:spMkLst>
            <pc:docMk/>
            <pc:sldMk cId="2974560579" sldId="261"/>
            <ac:spMk id="2" creationId="{EDC2F6DC-E959-964C-1778-FF25E06DFA52}"/>
          </ac:spMkLst>
        </pc:spChg>
        <pc:spChg chg="add mod">
          <ac:chgData name="kondeti paavani" userId="5ce15e9ddcf48b7a" providerId="LiveId" clId="{351B9316-C5E4-45BC-AFE4-31F00EEA211F}" dt="2026-04-10T13:29:23.846" v="375" actId="1076"/>
          <ac:spMkLst>
            <pc:docMk/>
            <pc:sldMk cId="2974560579" sldId="261"/>
            <ac:spMk id="7" creationId="{BFCBA609-F365-62FC-B40F-3A0A3D36C608}"/>
          </ac:spMkLst>
        </pc:spChg>
        <pc:picChg chg="add mod">
          <ac:chgData name="kondeti paavani" userId="5ce15e9ddcf48b7a" providerId="LiveId" clId="{351B9316-C5E4-45BC-AFE4-31F00EEA211F}" dt="2026-04-10T13:29:29.008" v="376" actId="14100"/>
          <ac:picMkLst>
            <pc:docMk/>
            <pc:sldMk cId="2974560579" sldId="261"/>
            <ac:picMk id="2050" creationId="{C5A81C60-9C48-6A56-E57B-BDBE7218B425}"/>
          </ac:picMkLst>
        </pc:picChg>
      </pc:sldChg>
      <pc:sldChg chg="modSp mod">
        <pc:chgData name="kondeti paavani" userId="5ce15e9ddcf48b7a" providerId="LiveId" clId="{351B9316-C5E4-45BC-AFE4-31F00EEA211F}" dt="2026-04-10T13:10:26.181" v="196"/>
        <pc:sldMkLst>
          <pc:docMk/>
          <pc:sldMk cId="4023945827" sldId="262"/>
        </pc:sldMkLst>
        <pc:spChg chg="mod">
          <ac:chgData name="kondeti paavani" userId="5ce15e9ddcf48b7a" providerId="LiveId" clId="{351B9316-C5E4-45BC-AFE4-31F00EEA211F}" dt="2026-04-10T13:10:26.181" v="196"/>
          <ac:spMkLst>
            <pc:docMk/>
            <pc:sldMk cId="4023945827" sldId="262"/>
            <ac:spMk id="2" creationId="{D86ABBF1-B8EC-EEC8-4BED-644AB46B0572}"/>
          </ac:spMkLst>
        </pc:spChg>
        <pc:spChg chg="mod">
          <ac:chgData name="kondeti paavani" userId="5ce15e9ddcf48b7a" providerId="LiveId" clId="{351B9316-C5E4-45BC-AFE4-31F00EEA211F}" dt="2026-04-10T13:10:26.181" v="196"/>
          <ac:spMkLst>
            <pc:docMk/>
            <pc:sldMk cId="4023945827" sldId="262"/>
            <ac:spMk id="3" creationId="{5E595201-F004-4FB3-B827-80D270B22C03}"/>
          </ac:spMkLst>
        </pc:spChg>
      </pc:sldChg>
      <pc:sldChg chg="modSp mod">
        <pc:chgData name="kondeti paavani" userId="5ce15e9ddcf48b7a" providerId="LiveId" clId="{351B9316-C5E4-45BC-AFE4-31F00EEA211F}" dt="2026-04-10T13:10:26.181" v="196"/>
        <pc:sldMkLst>
          <pc:docMk/>
          <pc:sldMk cId="3977630097" sldId="263"/>
        </pc:sldMkLst>
        <pc:spChg chg="mod">
          <ac:chgData name="kondeti paavani" userId="5ce15e9ddcf48b7a" providerId="LiveId" clId="{351B9316-C5E4-45BC-AFE4-31F00EEA211F}" dt="2026-04-10T13:10:26.181" v="196"/>
          <ac:spMkLst>
            <pc:docMk/>
            <pc:sldMk cId="3977630097" sldId="263"/>
            <ac:spMk id="2" creationId="{7BBF26F5-A94A-F58D-5731-70F0C5DCD2F1}"/>
          </ac:spMkLst>
        </pc:spChg>
        <pc:spChg chg="mod">
          <ac:chgData name="kondeti paavani" userId="5ce15e9ddcf48b7a" providerId="LiveId" clId="{351B9316-C5E4-45BC-AFE4-31F00EEA211F}" dt="2026-04-07T15:41:40.939" v="55" actId="313"/>
          <ac:spMkLst>
            <pc:docMk/>
            <pc:sldMk cId="3977630097" sldId="263"/>
            <ac:spMk id="3" creationId="{466BE271-4050-892C-330C-A81D92FF0D61}"/>
          </ac:spMkLst>
        </pc:spChg>
      </pc:sldChg>
      <pc:sldChg chg="modSp mod">
        <pc:chgData name="kondeti paavani" userId="5ce15e9ddcf48b7a" providerId="LiveId" clId="{351B9316-C5E4-45BC-AFE4-31F00EEA211F}" dt="2026-04-10T13:10:26.282" v="199" actId="27636"/>
        <pc:sldMkLst>
          <pc:docMk/>
          <pc:sldMk cId="25216548" sldId="264"/>
        </pc:sldMkLst>
        <pc:spChg chg="mod">
          <ac:chgData name="kondeti paavani" userId="5ce15e9ddcf48b7a" providerId="LiveId" clId="{351B9316-C5E4-45BC-AFE4-31F00EEA211F}" dt="2026-04-10T13:10:26.282" v="199" actId="27636"/>
          <ac:spMkLst>
            <pc:docMk/>
            <pc:sldMk cId="25216548" sldId="264"/>
            <ac:spMk id="2" creationId="{87FF307D-B3FB-C1A2-BBCF-43AF3E6A7C2A}"/>
          </ac:spMkLst>
        </pc:spChg>
        <pc:spChg chg="mod">
          <ac:chgData name="kondeti paavani" userId="5ce15e9ddcf48b7a" providerId="LiveId" clId="{351B9316-C5E4-45BC-AFE4-31F00EEA211F}" dt="2026-04-10T13:10:26.181" v="196"/>
          <ac:spMkLst>
            <pc:docMk/>
            <pc:sldMk cId="25216548" sldId="264"/>
            <ac:spMk id="3" creationId="{45E7B3C2-155D-1FB8-BCA7-47714FB5BA49}"/>
          </ac:spMkLst>
        </pc:spChg>
      </pc:sldChg>
      <pc:sldChg chg="modSp mod">
        <pc:chgData name="kondeti paavani" userId="5ce15e9ddcf48b7a" providerId="LiveId" clId="{351B9316-C5E4-45BC-AFE4-31F00EEA211F}" dt="2026-04-15T10:14:39.878" v="399" actId="1076"/>
        <pc:sldMkLst>
          <pc:docMk/>
          <pc:sldMk cId="2951452742" sldId="265"/>
        </pc:sldMkLst>
        <pc:spChg chg="mod">
          <ac:chgData name="kondeti paavani" userId="5ce15e9ddcf48b7a" providerId="LiveId" clId="{351B9316-C5E4-45BC-AFE4-31F00EEA211F}" dt="2026-04-10T13:10:26.292" v="200" actId="27636"/>
          <ac:spMkLst>
            <pc:docMk/>
            <pc:sldMk cId="2951452742" sldId="265"/>
            <ac:spMk id="2" creationId="{4C72DCAE-31B1-E492-D83D-5FBE34B0926C}"/>
          </ac:spMkLst>
        </pc:spChg>
        <pc:picChg chg="mod">
          <ac:chgData name="kondeti paavani" userId="5ce15e9ddcf48b7a" providerId="LiveId" clId="{351B9316-C5E4-45BC-AFE4-31F00EEA211F}" dt="2026-04-15T10:14:39.878" v="399" actId="1076"/>
          <ac:picMkLst>
            <pc:docMk/>
            <pc:sldMk cId="2951452742" sldId="265"/>
            <ac:picMk id="8" creationId="{97C17B81-1519-F1BD-DFEE-41F0222B1070}"/>
          </ac:picMkLst>
        </pc:picChg>
      </pc:sldChg>
      <pc:sldChg chg="modSp mod">
        <pc:chgData name="kondeti paavani" userId="5ce15e9ddcf48b7a" providerId="LiveId" clId="{351B9316-C5E4-45BC-AFE4-31F00EEA211F}" dt="2026-04-16T12:43:43.942" v="413" actId="20577"/>
        <pc:sldMkLst>
          <pc:docMk/>
          <pc:sldMk cId="2966279697" sldId="268"/>
        </pc:sldMkLst>
        <pc:spChg chg="mod">
          <ac:chgData name="kondeti paavani" userId="5ce15e9ddcf48b7a" providerId="LiveId" clId="{351B9316-C5E4-45BC-AFE4-31F00EEA211F}" dt="2026-04-10T13:10:09.173" v="194" actId="27636"/>
          <ac:spMkLst>
            <pc:docMk/>
            <pc:sldMk cId="2966279697" sldId="268"/>
            <ac:spMk id="2" creationId="{0A0C6B31-BE8C-B86A-9FE9-1B72AEDD39A2}"/>
          </ac:spMkLst>
        </pc:spChg>
        <pc:spChg chg="mod">
          <ac:chgData name="kondeti paavani" userId="5ce15e9ddcf48b7a" providerId="LiveId" clId="{351B9316-C5E4-45BC-AFE4-31F00EEA211F}" dt="2026-04-16T12:43:43.942" v="413" actId="20577"/>
          <ac:spMkLst>
            <pc:docMk/>
            <pc:sldMk cId="2966279697" sldId="268"/>
            <ac:spMk id="3" creationId="{C7CB2215-DFE0-C02C-A133-190330ED5D84}"/>
          </ac:spMkLst>
        </pc:spChg>
      </pc:sldChg>
      <pc:sldChg chg="modSp">
        <pc:chgData name="kondeti paavani" userId="5ce15e9ddcf48b7a" providerId="LiveId" clId="{351B9316-C5E4-45BC-AFE4-31F00EEA211F}" dt="2026-04-10T13:10:26.181" v="196"/>
        <pc:sldMkLst>
          <pc:docMk/>
          <pc:sldMk cId="106256722" sldId="269"/>
        </pc:sldMkLst>
        <pc:spChg chg="mod">
          <ac:chgData name="kondeti paavani" userId="5ce15e9ddcf48b7a" providerId="LiveId" clId="{351B9316-C5E4-45BC-AFE4-31F00EEA211F}" dt="2026-04-10T13:10:26.181" v="196"/>
          <ac:spMkLst>
            <pc:docMk/>
            <pc:sldMk cId="106256722" sldId="269"/>
            <ac:spMk id="2" creationId="{3D0A1E79-6E4B-6824-990E-D582D768AF89}"/>
          </ac:spMkLst>
        </pc:spChg>
        <pc:spChg chg="mod">
          <ac:chgData name="kondeti paavani" userId="5ce15e9ddcf48b7a" providerId="LiveId" clId="{351B9316-C5E4-45BC-AFE4-31F00EEA211F}" dt="2026-04-10T13:10:26.181" v="196"/>
          <ac:spMkLst>
            <pc:docMk/>
            <pc:sldMk cId="106256722" sldId="269"/>
            <ac:spMk id="3" creationId="{160958C5-3409-BD1E-D534-E8A822D5C80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604F-79CD-405C-A796-48A6F9B5D5A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1AA949B-5FEB-4BF2-8FC1-74EE98031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293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604F-79CD-405C-A796-48A6F9B5D5A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49B-5FEB-4BF2-8FC1-74EE98031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636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604F-79CD-405C-A796-48A6F9B5D5A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1AA949B-5FEB-4BF2-8FC1-74EE98031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228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604F-79CD-405C-A796-48A6F9B5D5A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1AA949B-5FEB-4BF2-8FC1-74EE98031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2715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604F-79CD-405C-A796-48A6F9B5D5A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1AA949B-5FEB-4BF2-8FC1-74EE98031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3554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604F-79CD-405C-A796-48A6F9B5D5A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49B-5FEB-4BF2-8FC1-74EE98031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548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604F-79CD-405C-A796-48A6F9B5D5A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49B-5FEB-4BF2-8FC1-74EE98031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0897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604F-79CD-405C-A796-48A6F9B5D5A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49B-5FEB-4BF2-8FC1-74EE98031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075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604F-79CD-405C-A796-48A6F9B5D5A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1AA949B-5FEB-4BF2-8FC1-74EE98031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3510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604F-79CD-405C-A796-48A6F9B5D5A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1AA949B-5FEB-4BF2-8FC1-74EE98031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8161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604F-79CD-405C-A796-48A6F9B5D5A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1AA949B-5FEB-4BF2-8FC1-74EE980312C7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7693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604F-79CD-405C-A796-48A6F9B5D5A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1AA949B-5FEB-4BF2-8FC1-74EE98031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199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604F-79CD-405C-A796-48A6F9B5D5A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1AA949B-5FEB-4BF2-8FC1-74EE980312C7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9432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604F-79CD-405C-A796-48A6F9B5D5A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1AA949B-5FEB-4BF2-8FC1-74EE98031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0619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604F-79CD-405C-A796-48A6F9B5D5A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49B-5FEB-4BF2-8FC1-74EE98031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21986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8604F-79CD-405C-A796-48A6F9B5D5A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49B-5FEB-4BF2-8FC1-74EE98031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1940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8604F-79CD-405C-A796-48A6F9B5D5A1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1AA949B-5FEB-4BF2-8FC1-74EE980312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662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  <p:sldLayoutId id="2147483883" r:id="rId13"/>
    <p:sldLayoutId id="2147483884" r:id="rId14"/>
    <p:sldLayoutId id="2147483885" r:id="rId15"/>
    <p:sldLayoutId id="214748388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35677283/" TargetMode="External"/><Relationship Id="rId2" Type="http://schemas.openxmlformats.org/officeDocument/2006/relationships/hyperlink" Target="https://pubmed.ncbi.nlm.nih.gov/38111788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rontiersin.org/journals/psychology/articles/10.3389/fpsyg.2025.1649890/full" TargetMode="External"/><Relationship Id="rId5" Type="http://schemas.openxmlformats.org/officeDocument/2006/relationships/hyperlink" Target="https://www.researchgate.net/publication/399115208_Excessive_social_media_use_and_its_impact_on_psychological_well-being_and_academic_performance_of_Vietnamese_university_students" TargetMode="External"/><Relationship Id="rId4" Type="http://schemas.openxmlformats.org/officeDocument/2006/relationships/hyperlink" Target="https://pubmed.ncbi.nlm.nih.gov/40687080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AAF86-379B-2F1D-3F14-03EB322250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233680"/>
            <a:ext cx="11816080" cy="6431280"/>
          </a:xfrm>
        </p:spPr>
        <p:txBody>
          <a:bodyPr>
            <a:normAutofit fontScale="90000"/>
          </a:bodyPr>
          <a:lstStyle/>
          <a:p>
            <a:pPr algn="ctr"/>
            <a:br>
              <a:rPr lang="en-GB" sz="3200" b="1" dirty="0">
                <a:solidFill>
                  <a:schemeClr val="tx1"/>
                </a:solidFill>
              </a:rPr>
            </a:br>
            <a:br>
              <a:rPr lang="en-GB" sz="3200" b="1" dirty="0">
                <a:solidFill>
                  <a:schemeClr val="tx1"/>
                </a:solidFill>
              </a:rPr>
            </a:br>
            <a:r>
              <a:rPr lang="en-GB" sz="3200" b="1" dirty="0">
                <a:solidFill>
                  <a:schemeClr val="tx1"/>
                </a:solidFill>
              </a:rPr>
              <a:t>IMPACT OF SOCIAL MEDIA USAGE ON STUDENT’S MENTAL HEALTH: A </a:t>
            </a:r>
            <a:r>
              <a:rPr lang="en-GB" sz="3200" b="1">
                <a:solidFill>
                  <a:schemeClr val="tx1"/>
                </a:solidFill>
              </a:rPr>
              <a:t>STATISTICAL ANALYSIS</a:t>
            </a:r>
            <a:br>
              <a:rPr lang="en-GB" sz="3200" b="1" dirty="0">
                <a:solidFill>
                  <a:schemeClr val="tx1"/>
                </a:solidFill>
              </a:rPr>
            </a:br>
            <a:br>
              <a:rPr lang="en-GB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  <a:latin typeface="Goudy Old Style"/>
                <a:ea typeface="+mj-lt"/>
                <a:cs typeface="+mj-lt"/>
              </a:rPr>
              <a:t>University Post Graduate College (OU) , </a:t>
            </a:r>
            <a:r>
              <a:rPr lang="en-US" sz="3200" b="1" dirty="0" err="1">
                <a:solidFill>
                  <a:schemeClr val="tx1"/>
                </a:solidFill>
                <a:latin typeface="Goudy Old Style"/>
                <a:ea typeface="+mj-lt"/>
                <a:cs typeface="+mj-lt"/>
              </a:rPr>
              <a:t>Secunderabad</a:t>
            </a:r>
            <a:br>
              <a:rPr lang="en-US" sz="3200" b="1" dirty="0">
                <a:solidFill>
                  <a:schemeClr val="tx1"/>
                </a:solidFill>
                <a:latin typeface="Goudy Old Style"/>
              </a:rPr>
            </a:br>
            <a:r>
              <a:rPr lang="en-US" sz="3200" b="1" dirty="0">
                <a:solidFill>
                  <a:schemeClr val="tx1"/>
                </a:solidFill>
                <a:latin typeface="Goudy Old Style"/>
                <a:ea typeface="+mj-lt"/>
                <a:cs typeface="+mj-lt"/>
              </a:rPr>
              <a:t>(A Constituent College Of Osmania University)</a:t>
            </a:r>
            <a:br>
              <a:rPr lang="en-GB" sz="3200" b="1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  <a:latin typeface="Goudy Old Style"/>
                <a:ea typeface="+mj-lt"/>
                <a:cs typeface="+mj-lt"/>
              </a:rPr>
              <a:t>DEPARTMENT OF COMPUTER SCIENCE</a:t>
            </a:r>
            <a:br>
              <a:rPr lang="en-US" sz="3200" dirty="0">
                <a:solidFill>
                  <a:schemeClr val="tx1"/>
                </a:solidFill>
                <a:latin typeface="Goudy Old Style"/>
              </a:rPr>
            </a:br>
            <a:r>
              <a:rPr lang="en-US" sz="3200" dirty="0">
                <a:solidFill>
                  <a:schemeClr val="tx1"/>
                </a:solidFill>
                <a:latin typeface="Goudy Old Style"/>
                <a:ea typeface="+mj-lt"/>
                <a:cs typeface="+mj-lt"/>
              </a:rPr>
              <a:t>M.SC.DATA SCIENCE II YEAR</a:t>
            </a:r>
            <a:br>
              <a:rPr lang="en-US" sz="3200" dirty="0">
                <a:solidFill>
                  <a:schemeClr val="tx1"/>
                </a:solidFill>
                <a:latin typeface="Goudy Old Style"/>
              </a:rPr>
            </a:br>
            <a:r>
              <a:rPr lang="en-US" sz="3200" dirty="0">
                <a:solidFill>
                  <a:schemeClr val="tx1"/>
                </a:solidFill>
                <a:latin typeface="Goudy Old Style"/>
                <a:ea typeface="+mj-lt"/>
                <a:cs typeface="+mj-lt"/>
              </a:rPr>
              <a:t>[2024-2026]                              </a:t>
            </a:r>
            <a:br>
              <a:rPr lang="en-US" sz="3200" dirty="0">
                <a:solidFill>
                  <a:schemeClr val="tx1"/>
                </a:solidFill>
                <a:latin typeface="Goudy Old Style"/>
                <a:ea typeface="+mj-lt"/>
                <a:cs typeface="+mj-lt"/>
              </a:rPr>
            </a:br>
            <a:r>
              <a:rPr lang="en-US" sz="3200" dirty="0">
                <a:solidFill>
                  <a:schemeClr val="tx1"/>
                </a:solidFill>
                <a:latin typeface="Goudy Old Style"/>
                <a:ea typeface="+mj-lt"/>
                <a:cs typeface="+mj-lt"/>
              </a:rPr>
              <a:t>Submitted by</a:t>
            </a:r>
            <a:br>
              <a:rPr lang="en-US" sz="3200" dirty="0">
                <a:solidFill>
                  <a:schemeClr val="tx1"/>
                </a:solidFill>
                <a:latin typeface="Goudy Old Style"/>
                <a:ea typeface="+mj-lt"/>
                <a:cs typeface="+mj-lt"/>
              </a:rPr>
            </a:br>
            <a:r>
              <a:rPr lang="en-US" sz="3200" b="1" dirty="0" err="1">
                <a:solidFill>
                  <a:schemeClr val="tx1"/>
                </a:solidFill>
                <a:ea typeface="+mj-lt"/>
                <a:cs typeface="+mj-lt"/>
              </a:rPr>
              <a:t>K.Paavani</a:t>
            </a:r>
            <a:r>
              <a:rPr lang="en-US" sz="3200" b="1" dirty="0">
                <a:solidFill>
                  <a:schemeClr val="tx1"/>
                </a:solidFill>
                <a:ea typeface="+mj-lt"/>
                <a:cs typeface="+mj-lt"/>
              </a:rPr>
              <a:t>  -  101024559017</a:t>
            </a:r>
            <a:br>
              <a:rPr lang="en-US" sz="3200" dirty="0">
                <a:solidFill>
                  <a:schemeClr val="tx1"/>
                </a:solidFill>
                <a:latin typeface="Goudy Old Style"/>
                <a:ea typeface="+mj-lt"/>
                <a:cs typeface="+mj-lt"/>
              </a:rPr>
            </a:br>
            <a:br>
              <a:rPr lang="en-GB" sz="3200" b="1" dirty="0">
                <a:solidFill>
                  <a:schemeClr val="tx1"/>
                </a:solidFill>
              </a:rPr>
            </a:br>
            <a:r>
              <a:rPr lang="en-US" sz="3200" dirty="0">
                <a:solidFill>
                  <a:schemeClr val="tx1"/>
                </a:solidFill>
                <a:latin typeface="Goudy Old Style"/>
                <a:ea typeface="+mj-lt"/>
                <a:cs typeface="+mj-lt"/>
              </a:rPr>
              <a:t>Under the Guidance Of</a:t>
            </a:r>
            <a:br>
              <a:rPr lang="en-US" sz="3200" dirty="0">
                <a:solidFill>
                  <a:schemeClr val="tx1"/>
                </a:solidFill>
                <a:latin typeface="Goudy Old Style"/>
              </a:rPr>
            </a:br>
            <a:r>
              <a:rPr lang="en-US" sz="3200" dirty="0" err="1">
                <a:solidFill>
                  <a:schemeClr val="tx1"/>
                </a:solidFill>
                <a:latin typeface="Goudy Old Style"/>
                <a:ea typeface="+mj-lt"/>
                <a:cs typeface="+mj-lt"/>
              </a:rPr>
              <a:t>Dr.B.RANGANATHA</a:t>
            </a:r>
            <a:r>
              <a:rPr lang="en-US" sz="3200" dirty="0">
                <a:solidFill>
                  <a:schemeClr val="tx1"/>
                </a:solidFill>
                <a:latin typeface="Goudy Old Style"/>
                <a:ea typeface="+mj-lt"/>
                <a:cs typeface="+mj-lt"/>
              </a:rPr>
              <a:t> RAO</a:t>
            </a:r>
            <a:br>
              <a:rPr lang="en-US" sz="3200" dirty="0">
                <a:solidFill>
                  <a:schemeClr val="tx1"/>
                </a:solidFill>
                <a:latin typeface="Goudy Old Style"/>
              </a:rPr>
            </a:br>
            <a:r>
              <a:rPr lang="en-US" sz="3200" dirty="0">
                <a:solidFill>
                  <a:schemeClr val="tx1"/>
                </a:solidFill>
                <a:latin typeface="Goudy Old Style"/>
                <a:ea typeface="+mj-lt"/>
                <a:cs typeface="+mj-lt"/>
              </a:rPr>
              <a:t>(assistant professor(c), Dept of Computer Science</a:t>
            </a:r>
            <a:r>
              <a:rPr lang="en-US" sz="3200" dirty="0">
                <a:solidFill>
                  <a:schemeClr val="tx1"/>
                </a:solidFill>
                <a:ea typeface="+mj-lt"/>
                <a:cs typeface="+mj-lt"/>
              </a:rPr>
              <a:t>)</a:t>
            </a:r>
            <a:endParaRPr lang="en-GB" sz="320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168887-1A60-B580-D13D-5A4349E07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358" y="3195098"/>
            <a:ext cx="2133603" cy="211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56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3B4DA-0223-B93A-48F3-ACA2251D1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74910"/>
            <a:ext cx="8911687" cy="1280890"/>
          </a:xfrm>
        </p:spPr>
        <p:txBody>
          <a:bodyPr>
            <a:normAutofit/>
          </a:bodyPr>
          <a:lstStyle/>
          <a:p>
            <a:r>
              <a:rPr lang="en-GB" b="1" dirty="0"/>
              <a:t>Introduction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02B31-A94B-343D-0CE7-A041ADD8E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80" y="1452880"/>
            <a:ext cx="8382000" cy="4417702"/>
          </a:xfrm>
        </p:spPr>
        <p:txBody>
          <a:bodyPr/>
          <a:lstStyle/>
          <a:p>
            <a:r>
              <a:rPr lang="en-GB" sz="2000" dirty="0">
                <a:solidFill>
                  <a:schemeClr val="tx1"/>
                </a:solidFill>
              </a:rPr>
              <a:t>Social media is widely used among students for communication, learning and entertainment. </a:t>
            </a:r>
          </a:p>
          <a:p>
            <a:r>
              <a:rPr lang="en-GB" sz="2000" dirty="0">
                <a:solidFill>
                  <a:schemeClr val="tx1"/>
                </a:solidFill>
              </a:rPr>
              <a:t>Excessive usage affects mental health such as stress, anxiety, and depression. </a:t>
            </a:r>
          </a:p>
          <a:p>
            <a:r>
              <a:rPr lang="en-GB" sz="2000" dirty="0">
                <a:solidFill>
                  <a:schemeClr val="tx1"/>
                </a:solidFill>
              </a:rPr>
              <a:t>Digital behaviour influences sleep, productivity, and emotional well-being. </a:t>
            </a:r>
          </a:p>
          <a:p>
            <a:r>
              <a:rPr lang="en-GB" sz="2000" dirty="0">
                <a:solidFill>
                  <a:schemeClr val="tx1"/>
                </a:solidFill>
              </a:rPr>
              <a:t>Statistical analysis helps understand patterns and relationships in data. </a:t>
            </a: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8826DB-27DD-672F-6A04-22694F384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241" y="4216315"/>
            <a:ext cx="5578838" cy="243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777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2209C-8F3D-4727-D824-E222AADB2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chemeClr val="tx1"/>
                </a:solidFill>
              </a:rPr>
              <a:t>Motivation for Research</a:t>
            </a:r>
            <a:br>
              <a:rPr lang="en-GB" b="1" dirty="0">
                <a:solidFill>
                  <a:schemeClr val="tx1"/>
                </a:solidFill>
              </a:rPr>
            </a:b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D3415-F8E2-28ED-3E4F-A7281C794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332" y="1530978"/>
            <a:ext cx="8915400" cy="3777622"/>
          </a:xfrm>
        </p:spPr>
        <p:txBody>
          <a:bodyPr/>
          <a:lstStyle/>
          <a:p>
            <a:r>
              <a:rPr lang="en-GB" sz="2000" dirty="0">
                <a:solidFill>
                  <a:schemeClr val="tx1"/>
                </a:solidFill>
              </a:rPr>
              <a:t>Rapid increase in social media usage among students. </a:t>
            </a:r>
          </a:p>
          <a:p>
            <a:r>
              <a:rPr lang="en-GB" sz="2000" dirty="0">
                <a:solidFill>
                  <a:schemeClr val="tx1"/>
                </a:solidFill>
              </a:rPr>
              <a:t>Rising mental health issues like stress and anxiety. </a:t>
            </a:r>
          </a:p>
          <a:p>
            <a:r>
              <a:rPr lang="en-GB" sz="2000" dirty="0">
                <a:solidFill>
                  <a:schemeClr val="tx1"/>
                </a:solidFill>
              </a:rPr>
              <a:t>Lack of awareness about healthy usage patterns. </a:t>
            </a:r>
          </a:p>
          <a:p>
            <a:r>
              <a:rPr lang="en-GB" sz="2000" dirty="0">
                <a:solidFill>
                  <a:schemeClr val="tx1"/>
                </a:solidFill>
              </a:rPr>
              <a:t>Need for data-driven insights to understand behavioural impact. </a:t>
            </a:r>
          </a:p>
          <a:p>
            <a:r>
              <a:rPr lang="en-GB" sz="2000" dirty="0">
                <a:solidFill>
                  <a:schemeClr val="tx1"/>
                </a:solidFill>
              </a:rPr>
              <a:t>Statistical analysis helps identify hidden patterns and key factors.</a:t>
            </a:r>
          </a:p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1028" name="Picture 4" descr="Use it or lose it! How can we overcome the effects of social media on  reading">
            <a:extLst>
              <a:ext uri="{FF2B5EF4-FFF2-40B4-BE49-F238E27FC236}">
                <a16:creationId xmlns:a16="http://schemas.microsoft.com/office/drawing/2014/main" id="{D546AD8A-4AC4-CD8C-B65B-A8F6EDFFF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8762" y="4013200"/>
            <a:ext cx="3819638" cy="2479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8939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265C9-E138-D4DF-C376-641D0DC27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Literature Review</a:t>
            </a:r>
            <a:endParaRPr lang="en-GB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9720331-F0E3-52AE-A05B-00BC83CBF7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8795650"/>
              </p:ext>
            </p:extLst>
          </p:nvPr>
        </p:nvGraphicFramePr>
        <p:xfrm>
          <a:off x="520995" y="1339702"/>
          <a:ext cx="10917315" cy="5368938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183463">
                  <a:extLst>
                    <a:ext uri="{9D8B030D-6E8A-4147-A177-3AD203B41FA5}">
                      <a16:colId xmlns:a16="http://schemas.microsoft.com/office/drawing/2014/main" val="1069177159"/>
                    </a:ext>
                  </a:extLst>
                </a:gridCol>
                <a:gridCol w="2183463">
                  <a:extLst>
                    <a:ext uri="{9D8B030D-6E8A-4147-A177-3AD203B41FA5}">
                      <a16:colId xmlns:a16="http://schemas.microsoft.com/office/drawing/2014/main" val="1199031330"/>
                    </a:ext>
                  </a:extLst>
                </a:gridCol>
                <a:gridCol w="2183463">
                  <a:extLst>
                    <a:ext uri="{9D8B030D-6E8A-4147-A177-3AD203B41FA5}">
                      <a16:colId xmlns:a16="http://schemas.microsoft.com/office/drawing/2014/main" val="189409445"/>
                    </a:ext>
                  </a:extLst>
                </a:gridCol>
                <a:gridCol w="2183463">
                  <a:extLst>
                    <a:ext uri="{9D8B030D-6E8A-4147-A177-3AD203B41FA5}">
                      <a16:colId xmlns:a16="http://schemas.microsoft.com/office/drawing/2014/main" val="1629429327"/>
                    </a:ext>
                  </a:extLst>
                </a:gridCol>
                <a:gridCol w="2183463">
                  <a:extLst>
                    <a:ext uri="{9D8B030D-6E8A-4147-A177-3AD203B41FA5}">
                      <a16:colId xmlns:a16="http://schemas.microsoft.com/office/drawing/2014/main" val="649768192"/>
                    </a:ext>
                  </a:extLst>
                </a:gridCol>
              </a:tblGrid>
              <a:tr h="313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</a:rPr>
                        <a:t>Paper Title</a:t>
                      </a:r>
                    </a:p>
                  </a:txBody>
                  <a:tcPr marL="52287" marR="52287" marT="26143" marB="261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</a:rPr>
                        <a:t>Author</a:t>
                      </a:r>
                    </a:p>
                  </a:txBody>
                  <a:tcPr marL="52287" marR="52287" marT="26143" marB="261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</a:rPr>
                        <a:t>Approach</a:t>
                      </a:r>
                    </a:p>
                  </a:txBody>
                  <a:tcPr marL="52287" marR="52287" marT="26143" marB="261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</a:rPr>
                        <a:t>Findings</a:t>
                      </a:r>
                    </a:p>
                  </a:txBody>
                  <a:tcPr marL="52287" marR="52287" marT="26143" marB="261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</a:rPr>
                        <a:t>Limitations</a:t>
                      </a:r>
                    </a:p>
                  </a:txBody>
                  <a:tcPr marL="52287" marR="52287" marT="26143" marB="26143" anchor="ctr"/>
                </a:tc>
                <a:extLst>
                  <a:ext uri="{0D108BD9-81ED-4DB2-BD59-A6C34878D82A}">
                    <a16:rowId xmlns:a16="http://schemas.microsoft.com/office/drawing/2014/main" val="3683351889"/>
                  </a:ext>
                </a:extLst>
              </a:tr>
              <a:tr h="2416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Social Media Usage and Academic Performance Among Medical Students in Medina, Saudi Arabia</a:t>
                      </a:r>
                    </a:p>
                  </a:txBody>
                  <a:tcPr marL="52287" marR="52287" marT="26143" marB="261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800" dirty="0">
                          <a:solidFill>
                            <a:schemeClr val="tx1"/>
                          </a:solidFill>
                        </a:rPr>
                        <a:t>Alshanqiti A. et al. (2023)</a:t>
                      </a:r>
                    </a:p>
                  </a:txBody>
                  <a:tcPr marL="52287" marR="52287" marT="26143" marB="261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</a:rPr>
                        <a:t>Cross-sectional survey with statistical tests</a:t>
                      </a:r>
                    </a:p>
                  </a:txBody>
                  <a:tcPr marL="52287" marR="52287" marT="26143" marB="261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</a:rPr>
                        <a:t>High social media usage negatively affects academic performance</a:t>
                      </a:r>
                    </a:p>
                  </a:txBody>
                  <a:tcPr marL="52287" marR="52287" marT="26143" marB="261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</a:rPr>
                        <a:t>Uses only basic statistical tests like Chi-square and Fisher’s test; lacks advanced techniques like regression or multivariate analysis</a:t>
                      </a:r>
                    </a:p>
                  </a:txBody>
                  <a:tcPr marL="52287" marR="52287" marT="26143" marB="26143" anchor="ctr"/>
                </a:tc>
                <a:extLst>
                  <a:ext uri="{0D108BD9-81ED-4DB2-BD59-A6C34878D82A}">
                    <a16:rowId xmlns:a16="http://schemas.microsoft.com/office/drawing/2014/main" val="2373230249"/>
                  </a:ext>
                </a:extLst>
              </a:tr>
              <a:tr h="2416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The Impact of Social Media on Academic Performance and Interpersonal Relations Among Health Sciences Undergraduates</a:t>
                      </a:r>
                    </a:p>
                  </a:txBody>
                  <a:tcPr marL="52287" marR="52287" marT="26143" marB="261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Chandrasena P.P.C.M. et al. (2022)</a:t>
                      </a:r>
                    </a:p>
                  </a:txBody>
                  <a:tcPr marL="52287" marR="52287" marT="26143" marB="261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</a:rPr>
                        <a:t>Descriptive cross-sectional statistical study</a:t>
                      </a:r>
                    </a:p>
                  </a:txBody>
                  <a:tcPr marL="52287" marR="52287" marT="26143" marB="261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</a:rPr>
                        <a:t>Social media affects sleep, productivity, and interpersonal relationships</a:t>
                      </a:r>
                    </a:p>
                  </a:txBody>
                  <a:tcPr marL="52287" marR="52287" marT="26143" marB="261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Uses basic statistical methods such as descriptive statistics, t-test and ANOVA; lacks advanced </a:t>
                      </a:r>
                      <a:r>
                        <a:rPr lang="en-GB" sz="1800" dirty="0" err="1">
                          <a:solidFill>
                            <a:schemeClr val="tx1"/>
                          </a:solidFill>
                        </a:rPr>
                        <a:t>modeling</a:t>
                      </a:r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 techniques</a:t>
                      </a:r>
                    </a:p>
                  </a:txBody>
                  <a:tcPr marL="52287" marR="52287" marT="26143" marB="26143" anchor="ctr"/>
                </a:tc>
                <a:extLst>
                  <a:ext uri="{0D108BD9-81ED-4DB2-BD59-A6C34878D82A}">
                    <a16:rowId xmlns:a16="http://schemas.microsoft.com/office/drawing/2014/main" val="546227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0182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577C0-D172-0A0A-FD5F-F7B2D5676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Literature Review </a:t>
            </a:r>
            <a:endParaRPr lang="en-GB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A886BC6-3E78-7EDD-8A1A-64105C0907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4983667"/>
              </p:ext>
            </p:extLst>
          </p:nvPr>
        </p:nvGraphicFramePr>
        <p:xfrm>
          <a:off x="396240" y="1255240"/>
          <a:ext cx="11456990" cy="5562038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291398">
                  <a:extLst>
                    <a:ext uri="{9D8B030D-6E8A-4147-A177-3AD203B41FA5}">
                      <a16:colId xmlns:a16="http://schemas.microsoft.com/office/drawing/2014/main" val="1831017506"/>
                    </a:ext>
                  </a:extLst>
                </a:gridCol>
                <a:gridCol w="2291398">
                  <a:extLst>
                    <a:ext uri="{9D8B030D-6E8A-4147-A177-3AD203B41FA5}">
                      <a16:colId xmlns:a16="http://schemas.microsoft.com/office/drawing/2014/main" val="3390729552"/>
                    </a:ext>
                  </a:extLst>
                </a:gridCol>
                <a:gridCol w="2291398">
                  <a:extLst>
                    <a:ext uri="{9D8B030D-6E8A-4147-A177-3AD203B41FA5}">
                      <a16:colId xmlns:a16="http://schemas.microsoft.com/office/drawing/2014/main" val="1268123794"/>
                    </a:ext>
                  </a:extLst>
                </a:gridCol>
                <a:gridCol w="2291398">
                  <a:extLst>
                    <a:ext uri="{9D8B030D-6E8A-4147-A177-3AD203B41FA5}">
                      <a16:colId xmlns:a16="http://schemas.microsoft.com/office/drawing/2014/main" val="926778393"/>
                    </a:ext>
                  </a:extLst>
                </a:gridCol>
                <a:gridCol w="2291398">
                  <a:extLst>
                    <a:ext uri="{9D8B030D-6E8A-4147-A177-3AD203B41FA5}">
                      <a16:colId xmlns:a16="http://schemas.microsoft.com/office/drawing/2014/main" val="3347878038"/>
                    </a:ext>
                  </a:extLst>
                </a:gridCol>
              </a:tblGrid>
              <a:tr h="329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Paper Title</a:t>
                      </a:r>
                    </a:p>
                  </a:txBody>
                  <a:tcPr marL="37433" marR="37433" marT="18716" marB="18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Author</a:t>
                      </a:r>
                    </a:p>
                  </a:txBody>
                  <a:tcPr marL="37433" marR="37433" marT="18716" marB="18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Approach</a:t>
                      </a:r>
                    </a:p>
                  </a:txBody>
                  <a:tcPr marL="37433" marR="37433" marT="18716" marB="18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Findings</a:t>
                      </a:r>
                    </a:p>
                  </a:txBody>
                  <a:tcPr marL="37433" marR="37433" marT="18716" marB="18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Limitations</a:t>
                      </a:r>
                    </a:p>
                  </a:txBody>
                  <a:tcPr marL="37433" marR="37433" marT="18716" marB="18716" anchor="ctr"/>
                </a:tc>
                <a:extLst>
                  <a:ext uri="{0D108BD9-81ED-4DB2-BD59-A6C34878D82A}">
                    <a16:rowId xmlns:a16="http://schemas.microsoft.com/office/drawing/2014/main" val="1696600852"/>
                  </a:ext>
                </a:extLst>
              </a:tr>
              <a:tr h="1640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The Effects of Social Media Addiction, Academic Stress, and Sleep Quality on Anxiety Symptoms</a:t>
                      </a:r>
                    </a:p>
                  </a:txBody>
                  <a:tcPr marL="37433" marR="37433" marT="18716" marB="18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Zheng G., Peng H. (2025)</a:t>
                      </a:r>
                    </a:p>
                  </a:txBody>
                  <a:tcPr marL="37433" marR="37433" marT="18716" marB="18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Cross-sectional study with correlation and mediation analysis</a:t>
                      </a:r>
                    </a:p>
                  </a:txBody>
                  <a:tcPr marL="37433" marR="37433" marT="18716" marB="18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Social media addiction, stress, and poor sleep increase anxiety levels</a:t>
                      </a:r>
                    </a:p>
                  </a:txBody>
                  <a:tcPr marL="37433" marR="37433" marT="18716" marB="18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Focuses mainly on correlation and mediation analysis; does not include clustering or classification techniques</a:t>
                      </a:r>
                    </a:p>
                  </a:txBody>
                  <a:tcPr marL="37433" marR="37433" marT="18716" marB="18716" anchor="ctr"/>
                </a:tc>
                <a:extLst>
                  <a:ext uri="{0D108BD9-81ED-4DB2-BD59-A6C34878D82A}">
                    <a16:rowId xmlns:a16="http://schemas.microsoft.com/office/drawing/2014/main" val="356282969"/>
                  </a:ext>
                </a:extLst>
              </a:tr>
              <a:tr h="18703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Excessive Social Media Use and Its Impact on Psychological Well-Being and Academic Performance of Vietnamese University Students</a:t>
                      </a:r>
                    </a:p>
                  </a:txBody>
                  <a:tcPr marL="37433" marR="37433" marT="18716" marB="18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Duc T.M. (2026)</a:t>
                      </a:r>
                    </a:p>
                  </a:txBody>
                  <a:tcPr marL="37433" marR="37433" marT="18716" marB="18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Structural Equation </a:t>
                      </a:r>
                      <a:r>
                        <a:rPr lang="en-GB" sz="1600" dirty="0" err="1">
                          <a:solidFill>
                            <a:schemeClr val="tx1"/>
                          </a:solidFill>
                        </a:rPr>
                        <a:t>Modeling</a:t>
                      </a:r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 (PLS-SEM)</a:t>
                      </a:r>
                    </a:p>
                  </a:txBody>
                  <a:tcPr marL="37433" marR="37433" marT="18716" marB="18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Social media overuse increases psychological distress and reduces academic performance</a:t>
                      </a:r>
                    </a:p>
                  </a:txBody>
                  <a:tcPr marL="37433" marR="37433" marT="18716" marB="18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Uses SEM but lacks complementary techniques like clustering or regression comparison models</a:t>
                      </a:r>
                    </a:p>
                  </a:txBody>
                  <a:tcPr marL="37433" marR="37433" marT="18716" marB="18716" anchor="ctr"/>
                </a:tc>
                <a:extLst>
                  <a:ext uri="{0D108BD9-81ED-4DB2-BD59-A6C34878D82A}">
                    <a16:rowId xmlns:a16="http://schemas.microsoft.com/office/drawing/2014/main" val="570685869"/>
                  </a:ext>
                </a:extLst>
              </a:tr>
              <a:tr h="1411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Social Media Use and Academic Performance Among College Students</a:t>
                      </a:r>
                    </a:p>
                  </a:txBody>
                  <a:tcPr marL="37433" marR="37433" marT="18716" marB="18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</a:rPr>
                        <a:t>Gong Z., Guo Y., Tan J. (2025)</a:t>
                      </a:r>
                    </a:p>
                  </a:txBody>
                  <a:tcPr marL="37433" marR="37433" marT="18716" marB="18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Structural Equation Modeling with mediation and moderation analysis</a:t>
                      </a:r>
                    </a:p>
                  </a:txBody>
                  <a:tcPr marL="37433" marR="37433" marT="18716" marB="18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Social anxiety and FoMO mediate the negative impact on academic performance</a:t>
                      </a:r>
                    </a:p>
                  </a:txBody>
                  <a:tcPr marL="37433" marR="37433" marT="18716" marB="187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Focuses on SEM-based </a:t>
                      </a:r>
                      <a:r>
                        <a:rPr lang="en-GB" sz="1600" dirty="0" err="1">
                          <a:solidFill>
                            <a:schemeClr val="tx1"/>
                          </a:solidFill>
                        </a:rPr>
                        <a:t>modeling</a:t>
                      </a:r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; lacks simpler statistical validation methods like ANOVA or clustering</a:t>
                      </a:r>
                    </a:p>
                  </a:txBody>
                  <a:tcPr marL="37433" marR="37433" marT="18716" marB="18716" anchor="ctr"/>
                </a:tc>
                <a:extLst>
                  <a:ext uri="{0D108BD9-81ED-4DB2-BD59-A6C34878D82A}">
                    <a16:rowId xmlns:a16="http://schemas.microsoft.com/office/drawing/2014/main" val="3549498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985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F6DC-E959-964C-1778-FF25E06DF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760" y="759455"/>
            <a:ext cx="10093465" cy="1049235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tx1"/>
                </a:solidFill>
              </a:rPr>
              <a:t>Problem Statement</a:t>
            </a:r>
            <a:br>
              <a:rPr lang="en-GB" b="1" dirty="0">
                <a:solidFill>
                  <a:schemeClr val="tx1"/>
                </a:solidFill>
              </a:rPr>
            </a:b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FCBA609-F365-62FC-B40F-3A0A3D36C6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9440" y="1166858"/>
            <a:ext cx="1099312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Lack of comprehensive statistical analysis to understand the impact of social media usage on students’ mental health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Limited use of advanced statistical techniques in existing studies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Incomplete analysis of combined behavioral and psychological factors such as sleep, stress, and anxiety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Absence of classification of students based on usage patterns and mental health conditions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Lack of practical, data-driven insights and recommendations </a:t>
            </a:r>
          </a:p>
        </p:txBody>
      </p:sp>
      <p:pic>
        <p:nvPicPr>
          <p:cNvPr id="2050" name="Picture 2" descr=" ">
            <a:extLst>
              <a:ext uri="{FF2B5EF4-FFF2-40B4-BE49-F238E27FC236}">
                <a16:creationId xmlns:a16="http://schemas.microsoft.com/office/drawing/2014/main" id="{C5A81C60-9C48-6A56-E57B-BDBE7218B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750" y="4439920"/>
            <a:ext cx="4866135" cy="2225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4560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ABBF1-B8EC-EEC8-4BED-644AB46B0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013" y="656008"/>
            <a:ext cx="8911687" cy="1280890"/>
          </a:xfrm>
        </p:spPr>
        <p:txBody>
          <a:bodyPr/>
          <a:lstStyle/>
          <a:p>
            <a:r>
              <a:rPr lang="en-GB" b="1" dirty="0"/>
              <a:t>Research</a:t>
            </a:r>
            <a:r>
              <a:rPr lang="en-GB" dirty="0"/>
              <a:t> </a:t>
            </a:r>
            <a:r>
              <a:rPr lang="en-GB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95201-F004-4FB3-B827-80D270B22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135" y="1360967"/>
            <a:ext cx="10845210" cy="542260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b="1" dirty="0">
              <a:solidFill>
                <a:schemeClr val="tx1"/>
              </a:solidFill>
            </a:endParaRPr>
          </a:p>
          <a:p>
            <a:r>
              <a:rPr lang="en-GB" sz="2200" b="1" dirty="0">
                <a:solidFill>
                  <a:schemeClr val="tx1"/>
                </a:solidFill>
              </a:rPr>
              <a:t>Objective 1:</a:t>
            </a:r>
            <a:br>
              <a:rPr lang="en-GB" sz="2200" dirty="0">
                <a:solidFill>
                  <a:schemeClr val="tx1"/>
                </a:solidFill>
              </a:rPr>
            </a:br>
            <a:r>
              <a:rPr lang="en-GB" sz="2200" dirty="0">
                <a:solidFill>
                  <a:schemeClr val="tx1"/>
                </a:solidFill>
              </a:rPr>
              <a:t>To analyse student data to identify patterns in social media usage and mental health.</a:t>
            </a:r>
          </a:p>
          <a:p>
            <a:r>
              <a:rPr lang="en-GB" sz="2200" b="1" dirty="0">
                <a:solidFill>
                  <a:schemeClr val="tx1"/>
                </a:solidFill>
              </a:rPr>
              <a:t>Objective 2:</a:t>
            </a:r>
            <a:br>
              <a:rPr lang="en-GB" sz="2200" dirty="0">
                <a:solidFill>
                  <a:schemeClr val="tx1"/>
                </a:solidFill>
              </a:rPr>
            </a:br>
            <a:r>
              <a:rPr lang="en-GB" sz="2200" dirty="0">
                <a:solidFill>
                  <a:schemeClr val="tx1"/>
                </a:solidFill>
              </a:rPr>
              <a:t>To examine the impact of usage, behaviour, and academics on mental health.</a:t>
            </a:r>
          </a:p>
          <a:p>
            <a:r>
              <a:rPr lang="en-GB" sz="2200" b="1" dirty="0">
                <a:solidFill>
                  <a:schemeClr val="tx1"/>
                </a:solidFill>
              </a:rPr>
              <a:t>Objective 3:</a:t>
            </a:r>
            <a:br>
              <a:rPr lang="en-GB" sz="2200" dirty="0">
                <a:solidFill>
                  <a:schemeClr val="tx1"/>
                </a:solidFill>
              </a:rPr>
            </a:br>
            <a:r>
              <a:rPr lang="en-GB" sz="2200" dirty="0">
                <a:solidFill>
                  <a:schemeClr val="tx1"/>
                </a:solidFill>
              </a:rPr>
              <a:t>To apply statistical techniques to model relationships among variables.</a:t>
            </a:r>
          </a:p>
          <a:p>
            <a:r>
              <a:rPr lang="en-GB" sz="2200" b="1" dirty="0">
                <a:solidFill>
                  <a:schemeClr val="tx1"/>
                </a:solidFill>
              </a:rPr>
              <a:t>Objective 4:</a:t>
            </a:r>
            <a:br>
              <a:rPr lang="en-GB" sz="2200" dirty="0">
                <a:solidFill>
                  <a:schemeClr val="tx1"/>
                </a:solidFill>
              </a:rPr>
            </a:br>
            <a:r>
              <a:rPr lang="en-GB" sz="2200" dirty="0">
                <a:solidFill>
                  <a:schemeClr val="tx1"/>
                </a:solidFill>
              </a:rPr>
              <a:t>To classify students into risk groups based on usage and mental health.</a:t>
            </a:r>
          </a:p>
          <a:p>
            <a:r>
              <a:rPr lang="en-GB" sz="2200" b="1" dirty="0">
                <a:solidFill>
                  <a:schemeClr val="tx1"/>
                </a:solidFill>
              </a:rPr>
              <a:t>Objective 5:</a:t>
            </a:r>
            <a:br>
              <a:rPr lang="en-GB" sz="2200" dirty="0">
                <a:solidFill>
                  <a:schemeClr val="tx1"/>
                </a:solidFill>
              </a:rPr>
            </a:br>
            <a:r>
              <a:rPr lang="en-GB" sz="2200" dirty="0">
                <a:solidFill>
                  <a:schemeClr val="tx1"/>
                </a:solidFill>
              </a:rPr>
              <a:t>To provide data-driven insights for improving mental health.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3945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F26F5-A94A-F58D-5731-70F0C5DCD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529" y="707237"/>
            <a:ext cx="8911687" cy="1280890"/>
          </a:xfrm>
        </p:spPr>
        <p:txBody>
          <a:bodyPr>
            <a:normAutofit/>
          </a:bodyPr>
          <a:lstStyle/>
          <a:p>
            <a:r>
              <a:rPr lang="en-GB" b="1" dirty="0"/>
              <a:t>Methodology 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BE271-4050-892C-330C-A81D92FF0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279" y="1446028"/>
            <a:ext cx="11126295" cy="5187528"/>
          </a:xfrm>
        </p:spPr>
        <p:txBody>
          <a:bodyPr/>
          <a:lstStyle/>
          <a:p>
            <a:r>
              <a:rPr lang="en-GB" sz="1600" b="1" u="sng" dirty="0">
                <a:solidFill>
                  <a:schemeClr val="tx1"/>
                </a:solidFill>
              </a:rPr>
              <a:t>Dataset</a:t>
            </a:r>
            <a:r>
              <a:rPr lang="en-GB" sz="1600" b="1" dirty="0">
                <a:solidFill>
                  <a:schemeClr val="tx1"/>
                </a:solidFill>
              </a:rPr>
              <a:t>: </a:t>
            </a:r>
            <a:r>
              <a:rPr lang="en-GB" sz="1600" dirty="0">
                <a:solidFill>
                  <a:schemeClr val="tx1"/>
                </a:solidFill>
              </a:rPr>
              <a:t>Social Media &amp; Mental Health (Kaggle)</a:t>
            </a:r>
          </a:p>
          <a:p>
            <a:r>
              <a:rPr lang="en-GB" sz="1600" dirty="0">
                <a:solidFill>
                  <a:schemeClr val="tx1"/>
                </a:solidFill>
              </a:rPr>
              <a:t>Link: https://www.kaggle.com/datasets/sonalshinde123/social-media-mental-health-indicators-dataset</a:t>
            </a:r>
          </a:p>
          <a:p>
            <a:r>
              <a:rPr lang="en-GB" sz="1600" dirty="0">
                <a:solidFill>
                  <a:schemeClr val="tx1"/>
                </a:solidFill>
              </a:rPr>
              <a:t>Size: 5000 samples, 15 variables </a:t>
            </a:r>
          </a:p>
          <a:p>
            <a:r>
              <a:rPr lang="en-GB" sz="1600" dirty="0">
                <a:solidFill>
                  <a:schemeClr val="tx1"/>
                </a:solidFill>
              </a:rPr>
              <a:t>Includes behavioural, psychological, and lifestyle data</a:t>
            </a:r>
          </a:p>
          <a:p>
            <a:r>
              <a:rPr lang="en-GB" sz="1600" b="1" u="sng" dirty="0">
                <a:solidFill>
                  <a:schemeClr val="tx1"/>
                </a:solidFill>
              </a:rPr>
              <a:t>Preprocessing</a:t>
            </a:r>
            <a:r>
              <a:rPr lang="en-GB" sz="1600" b="1" dirty="0">
                <a:solidFill>
                  <a:schemeClr val="tx1"/>
                </a:solidFill>
              </a:rPr>
              <a:t>:</a:t>
            </a:r>
          </a:p>
          <a:p>
            <a:r>
              <a:rPr lang="en-GB" sz="1600" dirty="0">
                <a:solidFill>
                  <a:schemeClr val="tx1"/>
                </a:solidFill>
              </a:rPr>
              <a:t>Handle missing values using mean and mode</a:t>
            </a:r>
          </a:p>
          <a:p>
            <a:r>
              <a:rPr lang="en-GB" sz="1600" dirty="0">
                <a:solidFill>
                  <a:schemeClr val="tx1"/>
                </a:solidFill>
              </a:rPr>
              <a:t>Convert categorical data into numbers</a:t>
            </a:r>
          </a:p>
          <a:p>
            <a:r>
              <a:rPr lang="en-GB" sz="1600" dirty="0">
                <a:solidFill>
                  <a:schemeClr val="tx1"/>
                </a:solidFill>
              </a:rPr>
              <a:t>Normalize numerical values</a:t>
            </a:r>
          </a:p>
          <a:p>
            <a:r>
              <a:rPr lang="en-GB" sz="1600" dirty="0">
                <a:solidFill>
                  <a:schemeClr val="tx1"/>
                </a:solidFill>
              </a:rPr>
              <a:t>Remove outliers </a:t>
            </a:r>
          </a:p>
          <a:p>
            <a:r>
              <a:rPr lang="en-GB" sz="1600" dirty="0">
                <a:solidFill>
                  <a:schemeClr val="tx1"/>
                </a:solidFill>
              </a:rPr>
              <a:t>Clean and remove duplicate data</a:t>
            </a:r>
          </a:p>
          <a:p>
            <a:pPr marL="0" indent="0">
              <a:buNone/>
            </a:pPr>
            <a:r>
              <a:rPr lang="en-GB" sz="1600" b="1" u="sng" dirty="0">
                <a:solidFill>
                  <a:schemeClr val="tx1"/>
                </a:solidFill>
              </a:rPr>
              <a:t>Descriptive Analysis and Visualization</a:t>
            </a:r>
          </a:p>
          <a:p>
            <a:r>
              <a:rPr lang="en-GB" sz="1600" dirty="0">
                <a:solidFill>
                  <a:schemeClr val="tx1"/>
                </a:solidFill>
              </a:rPr>
              <a:t>Calculate mean, median, and standard deviation </a:t>
            </a:r>
          </a:p>
          <a:p>
            <a:r>
              <a:rPr lang="en-GB" sz="1600" dirty="0">
                <a:solidFill>
                  <a:schemeClr val="tx1"/>
                </a:solidFill>
              </a:rPr>
              <a:t>Use histograms, bar charts, and boxplots </a:t>
            </a:r>
          </a:p>
          <a:p>
            <a:r>
              <a:rPr lang="en-GB" sz="1600" dirty="0">
                <a:solidFill>
                  <a:schemeClr val="tx1"/>
                </a:solidFill>
              </a:rPr>
              <a:t>Understand data distribution and patterns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7630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F307D-B3FB-C1A2-BBCF-43AF3E6A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90859"/>
            <a:ext cx="8911687" cy="1280890"/>
          </a:xfrm>
        </p:spPr>
        <p:txBody>
          <a:bodyPr>
            <a:normAutofit/>
          </a:bodyPr>
          <a:lstStyle/>
          <a:p>
            <a:r>
              <a:rPr lang="en-GB" b="1" dirty="0"/>
              <a:t>Methodology 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7B3C2-155D-1FB8-BCA7-47714FB5B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153" y="1379913"/>
            <a:ext cx="10806545" cy="54780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u="sng" dirty="0">
                <a:solidFill>
                  <a:schemeClr val="tx1"/>
                </a:solidFill>
              </a:rPr>
              <a:t>Exploratory Data Analysis (EDA)</a:t>
            </a:r>
          </a:p>
          <a:p>
            <a:r>
              <a:rPr lang="en-GB" dirty="0">
                <a:solidFill>
                  <a:schemeClr val="tx1"/>
                </a:solidFill>
              </a:rPr>
              <a:t>Analyse relationships between variables </a:t>
            </a:r>
          </a:p>
          <a:p>
            <a:r>
              <a:rPr lang="en-GB" dirty="0">
                <a:solidFill>
                  <a:schemeClr val="tx1"/>
                </a:solidFill>
              </a:rPr>
              <a:t>Use correlation matrix and heatmaps </a:t>
            </a:r>
          </a:p>
          <a:p>
            <a:r>
              <a:rPr lang="en-GB" dirty="0">
                <a:solidFill>
                  <a:schemeClr val="tx1"/>
                </a:solidFill>
              </a:rPr>
              <a:t>Identify key trends and patterns</a:t>
            </a:r>
          </a:p>
          <a:p>
            <a:pPr marL="0" indent="0">
              <a:buNone/>
            </a:pPr>
            <a:r>
              <a:rPr lang="en-GB" b="1" u="sng" dirty="0">
                <a:solidFill>
                  <a:schemeClr val="tx1"/>
                </a:solidFill>
              </a:rPr>
              <a:t>Advanced Statistical Techniques </a:t>
            </a:r>
          </a:p>
          <a:p>
            <a:r>
              <a:rPr lang="en-GB" b="1" dirty="0">
                <a:solidFill>
                  <a:schemeClr val="tx1"/>
                </a:solidFill>
              </a:rPr>
              <a:t>Chi-square Test</a:t>
            </a:r>
            <a:r>
              <a:rPr lang="en-GB" dirty="0">
                <a:solidFill>
                  <a:schemeClr val="tx1"/>
                </a:solidFill>
              </a:rPr>
              <a:t> → Association between categorical variables </a:t>
            </a:r>
          </a:p>
          <a:p>
            <a:r>
              <a:rPr lang="en-GB" b="1" dirty="0">
                <a:solidFill>
                  <a:schemeClr val="tx1"/>
                </a:solidFill>
              </a:rPr>
              <a:t>ANOVA</a:t>
            </a:r>
            <a:r>
              <a:rPr lang="en-GB" dirty="0">
                <a:solidFill>
                  <a:schemeClr val="tx1"/>
                </a:solidFill>
              </a:rPr>
              <a:t> → Comparison of group means </a:t>
            </a:r>
          </a:p>
          <a:p>
            <a:r>
              <a:rPr lang="en-GB" b="1" dirty="0">
                <a:solidFill>
                  <a:schemeClr val="tx1"/>
                </a:solidFill>
              </a:rPr>
              <a:t>Correlation Analysis</a:t>
            </a:r>
            <a:r>
              <a:rPr lang="en-GB" dirty="0">
                <a:solidFill>
                  <a:schemeClr val="tx1"/>
                </a:solidFill>
              </a:rPr>
              <a:t> → Strength of relationships </a:t>
            </a:r>
          </a:p>
          <a:p>
            <a:r>
              <a:rPr lang="en-GB" b="1" dirty="0">
                <a:solidFill>
                  <a:schemeClr val="tx1"/>
                </a:solidFill>
              </a:rPr>
              <a:t>Logistic Regression</a:t>
            </a:r>
            <a:r>
              <a:rPr lang="en-GB" dirty="0">
                <a:solidFill>
                  <a:schemeClr val="tx1"/>
                </a:solidFill>
              </a:rPr>
              <a:t> → Prediction of mental health outcome </a:t>
            </a:r>
          </a:p>
          <a:p>
            <a:r>
              <a:rPr lang="en-GB" b="1" dirty="0">
                <a:solidFill>
                  <a:schemeClr val="tx1"/>
                </a:solidFill>
              </a:rPr>
              <a:t>Cluster Analysis</a:t>
            </a:r>
            <a:r>
              <a:rPr lang="en-GB" dirty="0">
                <a:solidFill>
                  <a:schemeClr val="tx1"/>
                </a:solidFill>
              </a:rPr>
              <a:t> → Grouping students into risk categories</a:t>
            </a:r>
          </a:p>
          <a:p>
            <a:pPr marL="0" indent="0">
              <a:buNone/>
            </a:pPr>
            <a:r>
              <a:rPr lang="en-GB" b="1" u="sng" dirty="0">
                <a:solidFill>
                  <a:schemeClr val="tx1"/>
                </a:solidFill>
              </a:rPr>
              <a:t>Result Interpretation</a:t>
            </a:r>
          </a:p>
          <a:p>
            <a:r>
              <a:rPr lang="en-GB" dirty="0">
                <a:solidFill>
                  <a:schemeClr val="tx1"/>
                </a:solidFill>
              </a:rPr>
              <a:t>Analyse statistical significance (p-value &lt; 0.05) </a:t>
            </a:r>
          </a:p>
          <a:p>
            <a:r>
              <a:rPr lang="en-GB" dirty="0">
                <a:solidFill>
                  <a:schemeClr val="tx1"/>
                </a:solidFill>
              </a:rPr>
              <a:t>Identify major influencing factors </a:t>
            </a:r>
          </a:p>
          <a:p>
            <a:r>
              <a:rPr lang="en-GB" dirty="0">
                <a:solidFill>
                  <a:schemeClr val="tx1"/>
                </a:solidFill>
              </a:rPr>
              <a:t>Interpret results in real-world context</a:t>
            </a: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16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2DCAE-31B1-E492-D83D-5FBE34B09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Methodology – Workflow (Architecture)</a:t>
            </a:r>
            <a:br>
              <a:rPr lang="en-GB" b="1" dirty="0"/>
            </a:br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7C17B81-1519-F1BD-DFEE-41F0222B10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71" b="19029"/>
          <a:stretch>
            <a:fillRect/>
          </a:stretch>
        </p:blipFill>
        <p:spPr bwMode="auto">
          <a:xfrm>
            <a:off x="1619718" y="416859"/>
            <a:ext cx="10318664" cy="6024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1452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C6B31-BE8C-B86A-9FE9-1B72AEDD3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295" y="731520"/>
            <a:ext cx="9104250" cy="1271039"/>
          </a:xfrm>
        </p:spPr>
        <p:txBody>
          <a:bodyPr>
            <a:normAutofit/>
          </a:bodyPr>
          <a:lstStyle/>
          <a:p>
            <a:r>
              <a:rPr lang="en-GB" b="1" dirty="0"/>
              <a:t>References 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B2215-DFE0-C02C-A133-190330ED5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59" y="1513839"/>
            <a:ext cx="11352415" cy="4970087"/>
          </a:xfrm>
        </p:spPr>
        <p:txBody>
          <a:bodyPr>
            <a:normAutofit/>
          </a:bodyPr>
          <a:lstStyle/>
          <a:p>
            <a:r>
              <a:rPr lang="en-GB" sz="2000" b="1" dirty="0" err="1">
                <a:solidFill>
                  <a:schemeClr val="tx1"/>
                </a:solidFill>
                <a:hlinkClick r:id="rId2"/>
              </a:rPr>
              <a:t>Alshanqiti</a:t>
            </a:r>
            <a:r>
              <a:rPr lang="en-GB" sz="2000" b="1" dirty="0">
                <a:solidFill>
                  <a:schemeClr val="tx1"/>
                </a:solidFill>
                <a:hlinkClick r:id="rId2"/>
              </a:rPr>
              <a:t> A., Alharbi O.A., Ismaeel D.M., </a:t>
            </a:r>
            <a:r>
              <a:rPr lang="en-GB" sz="2000" b="1" dirty="0" err="1">
                <a:solidFill>
                  <a:schemeClr val="tx1"/>
                </a:solidFill>
                <a:hlinkClick r:id="rId2"/>
              </a:rPr>
              <a:t>Abuanq</a:t>
            </a:r>
            <a:r>
              <a:rPr lang="en-GB" sz="2000" b="1" dirty="0">
                <a:solidFill>
                  <a:schemeClr val="tx1"/>
                </a:solidFill>
                <a:hlinkClick r:id="rId2"/>
              </a:rPr>
              <a:t> L. (2023)</a:t>
            </a:r>
            <a:br>
              <a:rPr lang="en-GB" sz="2000" dirty="0">
                <a:solidFill>
                  <a:schemeClr val="tx1"/>
                </a:solidFill>
                <a:hlinkClick r:id="rId2"/>
              </a:rPr>
            </a:br>
            <a:r>
              <a:rPr lang="en-GB" sz="2000" i="1" dirty="0">
                <a:solidFill>
                  <a:schemeClr val="tx1"/>
                </a:solidFill>
                <a:hlinkClick r:id="rId2"/>
              </a:rPr>
              <a:t>Social Media Usage and Academic Performance Among Medical Students in Medina, Saudi Arabia</a:t>
            </a:r>
            <a:endParaRPr lang="en-GB" sz="2000" i="1" dirty="0">
              <a:solidFill>
                <a:schemeClr val="tx1"/>
              </a:solidFill>
            </a:endParaRPr>
          </a:p>
          <a:p>
            <a:r>
              <a:rPr lang="en-GB" sz="2000" b="1" dirty="0">
                <a:solidFill>
                  <a:schemeClr val="tx1"/>
                </a:solidFill>
                <a:hlinkClick r:id="rId3"/>
              </a:rPr>
              <a:t>Chandrasena P.P.C.M., </a:t>
            </a:r>
            <a:r>
              <a:rPr lang="en-GB" sz="2000" b="1" dirty="0" err="1">
                <a:solidFill>
                  <a:schemeClr val="tx1"/>
                </a:solidFill>
                <a:hlinkClick r:id="rId3"/>
              </a:rPr>
              <a:t>Ilankoon</a:t>
            </a:r>
            <a:r>
              <a:rPr lang="en-GB" sz="2000" b="1" dirty="0">
                <a:solidFill>
                  <a:schemeClr val="tx1"/>
                </a:solidFill>
                <a:hlinkClick r:id="rId3"/>
              </a:rPr>
              <a:t> I.M.P.S. (2022)</a:t>
            </a:r>
            <a:br>
              <a:rPr lang="en-GB" sz="2000" dirty="0">
                <a:solidFill>
                  <a:schemeClr val="tx1"/>
                </a:solidFill>
                <a:hlinkClick r:id="rId3"/>
              </a:rPr>
            </a:br>
            <a:r>
              <a:rPr lang="en-GB" sz="2000" i="1" dirty="0">
                <a:solidFill>
                  <a:schemeClr val="tx1"/>
                </a:solidFill>
                <a:hlinkClick r:id="rId3"/>
              </a:rPr>
              <a:t>The Impact of Social Media on Academic Performance and Interpersonal Relations Among Health Sciences Undergraduates</a:t>
            </a:r>
            <a:r>
              <a:rPr lang="en-GB" sz="2000" dirty="0">
                <a:solidFill>
                  <a:schemeClr val="tx1"/>
                </a:solidFill>
                <a:hlinkClick r:id="rId3"/>
              </a:rPr>
              <a:t> </a:t>
            </a:r>
            <a:endParaRPr lang="en-GB" sz="2000" dirty="0">
              <a:solidFill>
                <a:schemeClr val="tx1"/>
              </a:solidFill>
            </a:endParaRPr>
          </a:p>
          <a:p>
            <a:r>
              <a:rPr lang="en-GB" sz="2000" b="1" dirty="0">
                <a:solidFill>
                  <a:schemeClr val="tx1"/>
                </a:solidFill>
                <a:hlinkClick r:id="rId4"/>
              </a:rPr>
              <a:t>Zheng G., Peng H. (2025)</a:t>
            </a:r>
            <a:br>
              <a:rPr lang="en-GB" sz="2000" dirty="0">
                <a:solidFill>
                  <a:schemeClr val="tx1"/>
                </a:solidFill>
                <a:hlinkClick r:id="rId4"/>
              </a:rPr>
            </a:br>
            <a:r>
              <a:rPr lang="en-GB" sz="2000" i="1" dirty="0">
                <a:solidFill>
                  <a:schemeClr val="tx1"/>
                </a:solidFill>
                <a:hlinkClick r:id="rId4"/>
              </a:rPr>
              <a:t>The Effects of Social Media Addiction, Academic Stress, and Sleep Quality on Anxiety Symptoms</a:t>
            </a:r>
            <a:r>
              <a:rPr lang="en-GB" sz="2000" dirty="0">
                <a:solidFill>
                  <a:schemeClr val="tx1"/>
                </a:solidFill>
                <a:hlinkClick r:id="rId4"/>
              </a:rPr>
              <a:t> </a:t>
            </a:r>
            <a:endParaRPr lang="en-GB" sz="2000" dirty="0">
              <a:solidFill>
                <a:schemeClr val="tx1"/>
              </a:solidFill>
            </a:endParaRPr>
          </a:p>
          <a:p>
            <a:r>
              <a:rPr lang="en-GB" sz="2000" b="1" dirty="0">
                <a:solidFill>
                  <a:schemeClr val="tx1"/>
                </a:solidFill>
                <a:hlinkClick r:id="rId5"/>
              </a:rPr>
              <a:t>Duc T.M. (2026)</a:t>
            </a:r>
            <a:br>
              <a:rPr lang="en-GB" sz="2000" dirty="0">
                <a:solidFill>
                  <a:schemeClr val="tx1"/>
                </a:solidFill>
                <a:hlinkClick r:id="rId5"/>
              </a:rPr>
            </a:br>
            <a:r>
              <a:rPr lang="en-GB" sz="2000" i="1" dirty="0">
                <a:solidFill>
                  <a:schemeClr val="tx1"/>
                </a:solidFill>
                <a:hlinkClick r:id="rId5"/>
              </a:rPr>
              <a:t>Excessive Social Media Use and Its Impact on Psychological Well-Being and Academic Performance of Vietnamese University Students</a:t>
            </a:r>
            <a:r>
              <a:rPr lang="en-GB" sz="2000" dirty="0">
                <a:solidFill>
                  <a:schemeClr val="tx1"/>
                </a:solidFill>
                <a:hlinkClick r:id="rId5"/>
              </a:rPr>
              <a:t> </a:t>
            </a:r>
            <a:endParaRPr lang="en-GB" sz="2000" dirty="0">
              <a:solidFill>
                <a:schemeClr val="tx1"/>
              </a:solidFill>
            </a:endParaRPr>
          </a:p>
          <a:p>
            <a:r>
              <a:rPr lang="en-GB" sz="2000" b="1" dirty="0">
                <a:solidFill>
                  <a:schemeClr val="tx1"/>
                </a:solidFill>
                <a:hlinkClick r:id="rId6"/>
              </a:rPr>
              <a:t>Gong Z., Guo Y., Tan J. (2025)</a:t>
            </a:r>
            <a:br>
              <a:rPr lang="en-GB" sz="2000" dirty="0">
                <a:solidFill>
                  <a:schemeClr val="tx1"/>
                </a:solidFill>
                <a:hlinkClick r:id="rId6"/>
              </a:rPr>
            </a:br>
            <a:r>
              <a:rPr lang="en-GB" sz="2000" i="1" dirty="0">
                <a:solidFill>
                  <a:schemeClr val="tx1"/>
                </a:solidFill>
                <a:hlinkClick r:id="rId6"/>
              </a:rPr>
              <a:t>Social Media Use and Academic Performance Among College Students</a:t>
            </a:r>
            <a:endParaRPr lang="en-GB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6279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A1E79-6E4B-6824-990E-D582D768A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958C5-3409-BD1E-D534-E8A822D5C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sz="4000" b="1" dirty="0">
                <a:solidFill>
                  <a:schemeClr val="tx1"/>
                </a:solidFill>
              </a:rPr>
              <a:t>THANK YOU</a:t>
            </a:r>
            <a:br>
              <a:rPr lang="en-GB" sz="4000" dirty="0">
                <a:solidFill>
                  <a:schemeClr val="tx1"/>
                </a:solidFill>
              </a:rPr>
            </a:br>
            <a:r>
              <a:rPr lang="en-GB" sz="4000" dirty="0">
                <a:solidFill>
                  <a:schemeClr val="tx1"/>
                </a:solidFill>
              </a:rPr>
              <a:t>Queries &amp; Suggestions</a:t>
            </a:r>
          </a:p>
          <a:p>
            <a:pPr marL="0" indent="0" algn="ctr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25672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179</TotalTime>
  <Words>966</Words>
  <Application>Microsoft Office PowerPoint</Application>
  <PresentationFormat>Widescreen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Goudy Old Style</vt:lpstr>
      <vt:lpstr>Wingdings 3</vt:lpstr>
      <vt:lpstr>Wisp</vt:lpstr>
      <vt:lpstr>  IMPACT OF SOCIAL MEDIA USAGE ON STUDENT’S MENTAL HEALTH: A STATISTICAL ANALYSIS  University Post Graduate College (OU) , Secunderabad (A Constituent College Of Osmania University) DEPARTMENT OF COMPUTER SCIENCE M.SC.DATA SCIENCE II YEAR [2024-2026]                               Submitted by K.Paavani  -  101024559017  Under the Guidance Of Dr.B.RANGANATHA RAO (assistant professor(c), Dept of Computer Science)</vt:lpstr>
      <vt:lpstr>Introduction </vt:lpstr>
      <vt:lpstr>Motivation for Research </vt:lpstr>
      <vt:lpstr>Literature Review</vt:lpstr>
      <vt:lpstr>Literature Review </vt:lpstr>
      <vt:lpstr>Problem Statement </vt:lpstr>
      <vt:lpstr>Research Objectives</vt:lpstr>
      <vt:lpstr>Methodology  </vt:lpstr>
      <vt:lpstr>Methodology  </vt:lpstr>
      <vt:lpstr>Methodology – Workflow (Architecture) </vt:lpstr>
      <vt:lpstr>References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kondeti paavani</dc:creator>
  <cp:lastModifiedBy>kondeti paavani</cp:lastModifiedBy>
  <cp:revision>4</cp:revision>
  <dcterms:created xsi:type="dcterms:W3CDTF">2026-04-07T08:58:24Z</dcterms:created>
  <dcterms:modified xsi:type="dcterms:W3CDTF">2026-04-17T04:30:44Z</dcterms:modified>
</cp:coreProperties>
</file>